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Store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checklist.</a:t>
            </a:r>
            <a:endParaRPr lang="en-US" sz="8800" dirty="0"/>
          </a:p>
        </p:txBody>
      </p:sp>
      <p:sp>
        <p:nvSpPr>
          <p:cNvPr id="4" name="Shape 2"/>
          <p:cNvSpPr/>
          <p:nvPr/>
        </p:nvSpPr>
        <p:spPr>
          <a:xfrm>
            <a:off x="731520" y="4572000"/>
            <a:ext cx="73152" cy="109728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572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still missing before Marginalia can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submitted to Apple — sorted by what blocks you.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0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2026-05-27 · v1.0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1A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stand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468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CA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03120"/>
            <a:ext cx="2468880" cy="16459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i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shipped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2103120"/>
            <a:ext cx="2468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CA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2103120"/>
            <a:ext cx="2468880" cy="16459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688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i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7600" dirty="0"/>
          </a:p>
        </p:txBody>
      </p:sp>
      <p:sp>
        <p:nvSpPr>
          <p:cNvPr id="11" name="Text 9"/>
          <p:cNvSpPr/>
          <p:nvPr/>
        </p:nvSpPr>
        <p:spPr>
          <a:xfrm>
            <a:off x="3657600" y="4389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left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2468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CAB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103120"/>
            <a:ext cx="2468880" cy="16459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688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7600" dirty="0"/>
          </a:p>
        </p:txBody>
      </p:sp>
      <p:sp>
        <p:nvSpPr>
          <p:cNvPr id="15" name="Text 13"/>
          <p:cNvSpPr/>
          <p:nvPr/>
        </p:nvSpPr>
        <p:spPr>
          <a:xfrm>
            <a:off x="6400800" y="4389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your sign-up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61120" y="2103120"/>
            <a:ext cx="2468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CAB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0" y="2103120"/>
            <a:ext cx="2468880" cy="164592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4688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€124</a:t>
            </a:r>
            <a:endParaRPr lang="en-US" sz="7600" dirty="0"/>
          </a:p>
        </p:txBody>
      </p:sp>
      <p:sp>
        <p:nvSpPr>
          <p:cNvPr id="19" name="Text 17"/>
          <p:cNvSpPr/>
          <p:nvPr/>
        </p:nvSpPr>
        <p:spPr>
          <a:xfrm>
            <a:off x="9144000" y="43891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cash to launch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€124 minimum: $99 Apple Developer + ~€20 Twilio top-up. RevenueCat, Supabase, OpenAI and OpenLibrary all run on free tiers at launch volumes.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MARGINALIA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0 — BLOCKERS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A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Can't submit until these 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4592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Developer enrollment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18288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$99/year — fill out at developer.apple.com. Allow 2-5 days for verification.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221992"/>
            <a:ext cx="10698480" cy="0"/>
          </a:xfrm>
          <a:prstGeom prst="line">
            <a:avLst/>
          </a:prstGeom>
          <a:noFill/>
          <a:ln w="6350">
            <a:solidFill>
              <a:srgbClr val="D6CA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28600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8600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2240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Connect app record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52160" y="22402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ID, name, primary category (Lifestyle or Books), age rating questionnaire.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633472"/>
            <a:ext cx="10698480" cy="0"/>
          </a:xfrm>
          <a:prstGeom prst="line">
            <a:avLst/>
          </a:prstGeom>
          <a:noFill/>
          <a:ln w="6350">
            <a:solidFill>
              <a:srgbClr val="D6CAB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69748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9748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45920" y="2651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1024×1024 app icon (final art)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52160" y="26517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all the iOS-required sizes via flutter_launcher_icons. No transparency, no rounded corners.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044952"/>
            <a:ext cx="10698480" cy="0"/>
          </a:xfrm>
          <a:prstGeom prst="line">
            <a:avLst/>
          </a:prstGeom>
          <a:noFill/>
          <a:ln w="6350">
            <a:solidFill>
              <a:srgbClr val="D6CAB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10896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10896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45920" y="3063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Screenshots: 6.7" and 6.5"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52160" y="30632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minimum each, in EN + IT. Use the Threads-style profile + library + stats screens.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456432"/>
            <a:ext cx="10698480" cy="0"/>
          </a:xfrm>
          <a:prstGeom prst="line">
            <a:avLst/>
          </a:prstGeom>
          <a:noFill/>
          <a:ln w="6350">
            <a:solidFill>
              <a:srgbClr val="D6CAB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52044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52044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45920" y="3474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description (EN + IT)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52160" y="34747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4000 chars max. Lead with the rediscovery promise, not 'Kindle import tool'.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3867912"/>
            <a:ext cx="10698480" cy="0"/>
          </a:xfrm>
          <a:prstGeom prst="line">
            <a:avLst/>
          </a:prstGeom>
          <a:noFill/>
          <a:ln w="6350">
            <a:solidFill>
              <a:srgbClr val="D6CAB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393192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93192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45920" y="3886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nutrition labels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852160" y="38862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Disclose: email, name, photos (avatar), location (weather), reading data, third-party SDKs.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4279392"/>
            <a:ext cx="10698480" cy="0"/>
          </a:xfrm>
          <a:prstGeom prst="line">
            <a:avLst/>
          </a:prstGeom>
          <a:noFill/>
          <a:ln w="6350">
            <a:solidFill>
              <a:srgbClr val="D6CAB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434340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34340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645920" y="4297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Apple wired up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852160" y="42976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rule 4.8 — REQUIRED because we offer Google + phone. UI built; provider needs Supabase keys.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1520" y="4690872"/>
            <a:ext cx="10698480" cy="0"/>
          </a:xfrm>
          <a:prstGeom prst="line">
            <a:avLst/>
          </a:prstGeom>
          <a:noFill/>
          <a:ln w="6350">
            <a:solidFill>
              <a:srgbClr val="D6CAB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" y="475488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75488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645920" y="47091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RevenueCat → IAP product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852160" y="47091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€19.99/year subscription created in App Store Connect AND mapped in RevenueCat dashboard.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31520" y="5102352"/>
            <a:ext cx="10698480" cy="0"/>
          </a:xfrm>
          <a:prstGeom prst="line">
            <a:avLst/>
          </a:prstGeom>
          <a:noFill/>
          <a:ln w="6350">
            <a:solidFill>
              <a:srgbClr val="D6CAB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1520" y="516636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516636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645920" y="5120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NSHealthShareUsageDescription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852160" y="51206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Info.plist string for HealthKit (workouts/cycle used in widget). Required if health_provider stays in.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31520" y="5513832"/>
            <a:ext cx="10698480" cy="0"/>
          </a:xfrm>
          <a:prstGeom prst="line">
            <a:avLst/>
          </a:prstGeom>
          <a:noFill/>
          <a:ln w="6350">
            <a:solidFill>
              <a:srgbClr val="D6CAB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1520" y="557784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557784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645920" y="5532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CFBundleURLSchemes: io.supabase.flutter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852160" y="55321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Info.plist deep-link callback for OAuth (Apple, Google return URLs).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31520" y="5925312"/>
            <a:ext cx="10698480" cy="0"/>
          </a:xfrm>
          <a:prstGeom prst="line">
            <a:avLst/>
          </a:prstGeom>
          <a:noFill/>
          <a:ln w="6350">
            <a:solidFill>
              <a:srgbClr val="D6CAB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" y="598932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598932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645920" y="5943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of Service URL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852160" y="59436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site exists for privacy; add /terms/ before submit. Apple requires it for paid apps.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09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MARGINALIA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 — PROVIDER CONFIGURATION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A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+ 3rd-party setup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3949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A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54864" cy="21945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 Auth providers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487168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add Services ID + private key in Authentication → Providers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Cloud OAuth client ID + secret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Twilio account SID + auth token + verified sender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URL: https://vittoriopalpati811-ai.github.io/marginalia/app.html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callback: io.supabase.flutter:// (matches Info.plist)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920240"/>
            <a:ext cx="53949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A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20240"/>
            <a:ext cx="54864" cy="21945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RevenueCat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487168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project, link Apple App Store Connect API key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subscription product matching the €19.99/yr created in ASC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REVENUECAT_PUBLIC_KEY_HERE in subscription_service.dart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TestFlight with a sandbox Apple ID before going live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53949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AB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297680"/>
            <a:ext cx="54864" cy="21945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Functions (already deployed)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864608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recommend-books (Anthropic Claude Haiku)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widget-highlight (Scriptable widget)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ANTHROPIC_API_KEY env var in Supabase Functions secrets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SUPABASE_SERVICE_ROLE_KEY for widget-highlight reads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4297680"/>
            <a:ext cx="53949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AB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4297680"/>
            <a:ext cx="54864" cy="21945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Associates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4864608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at programma-affiliazione.amazon.it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'marginaliaapp-21' in recommendations_section.dart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3 sales in 180 days or account is closed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required in app footer / privacy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MARGINALIA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 — LEGAL &amp; PRIVACY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A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GDPR-clean before EU launch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0" y="18288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 live at github.io/marginalia/privacy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49424"/>
            <a:ext cx="10698480" cy="0"/>
          </a:xfrm>
          <a:prstGeom prst="line">
            <a:avLst/>
          </a:prstGeom>
          <a:noFill/>
          <a:ln w="5080">
            <a:solidFill>
              <a:srgbClr val="D6CAB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31720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31720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22860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Delete-account flow (delete_my_account RPC, migration 025)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706624"/>
            <a:ext cx="10698480" cy="0"/>
          </a:xfrm>
          <a:prstGeom prst="line">
            <a:avLst/>
          </a:prstGeom>
          <a:noFill/>
          <a:ln w="5080">
            <a:solidFill>
              <a:srgbClr val="D6C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788920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88920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27432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+ 2 P0 vulns fixed (migration 028)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163824"/>
            <a:ext cx="10698480" cy="0"/>
          </a:xfrm>
          <a:prstGeom prst="line">
            <a:avLst/>
          </a:prstGeom>
          <a:noFill/>
          <a:ln w="5080">
            <a:solidFill>
              <a:srgbClr val="D6C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246120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46120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0" y="3200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of Service drafted + hosted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621024"/>
            <a:ext cx="10698480" cy="0"/>
          </a:xfrm>
          <a:prstGeom prst="line">
            <a:avLst/>
          </a:prstGeom>
          <a:noFill/>
          <a:ln w="5080">
            <a:solidFill>
              <a:srgbClr val="D6CAB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703320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703320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36576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/ SDK disclosure (RevenueCat, Supabase, Anthropic)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078224"/>
            <a:ext cx="10698480" cy="0"/>
          </a:xfrm>
          <a:prstGeom prst="line">
            <a:avLst/>
          </a:prstGeom>
          <a:noFill/>
          <a:ln w="5080">
            <a:solidFill>
              <a:srgbClr val="D6CAB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160520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160520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11680" y="41148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Agreement on file with each subprocessor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" y="4535424"/>
            <a:ext cx="10698480" cy="0"/>
          </a:xfrm>
          <a:prstGeom prst="line">
            <a:avLst/>
          </a:prstGeom>
          <a:noFill/>
          <a:ln w="5080">
            <a:solidFill>
              <a:srgbClr val="D6CAB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617720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617720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11680" y="45720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Tracking Transparency prompt (Apple requires for any tracking)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" y="4992624"/>
            <a:ext cx="10698480" cy="0"/>
          </a:xfrm>
          <a:prstGeom prst="line">
            <a:avLst/>
          </a:prstGeom>
          <a:noFill/>
          <a:ln w="5080">
            <a:solidFill>
              <a:srgbClr val="D6CAB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5074920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074920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11680" y="50292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Export-my-data feature (GDPR Art. 20)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1520" y="5449824"/>
            <a:ext cx="10698480" cy="0"/>
          </a:xfrm>
          <a:prstGeom prst="line">
            <a:avLst/>
          </a:prstGeom>
          <a:noFill/>
          <a:ln w="5080">
            <a:solidFill>
              <a:srgbClr val="D6CAB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" y="5532120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4A3838"/>
          </a:solidFill>
          <a:ln w="12700">
            <a:solidFill>
              <a:srgbClr val="4A38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53212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011680" y="5486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registration in Italy for €19.99 subs over threshold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MARGINALIA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 — QUALITY &amp; POLISH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A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TestFlight invite goes out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QA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267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286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screens tested with VoiceOver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788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Type up to XXL renders without overflow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267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pass across every screen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267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794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shows graceful empty states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343400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267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4297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Crash-free 7d on TestFlight (RUM via Sentry?)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846320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267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800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profile: no leaks on long scroll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5349240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267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5303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iPad-readable (Apple checks even if not promoted)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1783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2331720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267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286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Preview video (15-30s, 1080×1920, EN + IT)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2834640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267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788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landing already live 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3337560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267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kit (logo SVG, key screenshots, founder bio)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3840480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267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794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beta testers recruited via TestFlight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0" y="4343400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267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4297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ASO: title, subtitle, keywords researched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0" y="4846320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267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4800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search-suggestion synonyms validated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0" y="5349240"/>
            <a:ext cx="292608" cy="2926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267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5303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announcement copy (Twitter / IG / Threads)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MARGINALIA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TIMELINE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A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today to 'submitted'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6060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6CA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94560"/>
            <a:ext cx="260604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677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A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Accounts &amp; legal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47472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Developer enrollment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account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Terms of Service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Supabase OAuth providers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194560"/>
            <a:ext cx="26060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6CAB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194560"/>
            <a:ext cx="2606040" cy="502920"/>
          </a:xfrm>
          <a:prstGeom prst="rect">
            <a:avLst/>
          </a:prstGeom>
          <a:solidFill>
            <a:srgbClr val="A267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2677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A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Polish &amp; assets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347472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 icon design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10 hero screenshots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app description EN + IT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nutrition labels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194560"/>
            <a:ext cx="26060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6CAB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194560"/>
            <a:ext cx="2606040" cy="502920"/>
          </a:xfrm>
          <a:prstGeom prst="rect">
            <a:avLst/>
          </a:prstGeom>
          <a:solidFill>
            <a:srgbClr val="84B59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2677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A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TestFlight build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347472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RevenueCat sandbox testing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Apple end-to-end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20-user closed beta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Crash-fix sprint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61120" y="2194560"/>
            <a:ext cx="26060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6CAB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2194560"/>
            <a:ext cx="2606040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22677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8972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A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89720" y="347472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Preview video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App Store Review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 updated with 'available now'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outreach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All-in: ~4 weeks of focused work. Apple review currently averages 24-48h.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MARGINALIA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TO LAUNCH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A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First-year cost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863840" y="1920240"/>
            <a:ext cx="3657600" cy="40233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minimum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38160" y="26517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€124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8138160" y="4297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 even at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paid subscribers.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Developer Program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12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 USD, billed annually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€92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2487168"/>
            <a:ext cx="6583680" cy="0"/>
          </a:xfrm>
          <a:prstGeom prst="line">
            <a:avLst/>
          </a:prstGeom>
          <a:noFill/>
          <a:ln w="5080">
            <a:solidFill>
              <a:srgbClr val="D6CA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871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SMS (start credit)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7797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OTPs at €0.05 each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€20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31520" y="3054096"/>
            <a:ext cx="6583680" cy="0"/>
          </a:xfrm>
          <a:prstGeom prst="line">
            <a:avLst/>
          </a:prstGeom>
          <a:noFill/>
          <a:ln w="5080">
            <a:solidFill>
              <a:srgbClr val="D6CA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540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RevenueCat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3467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up to $2.5k MTR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0540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€0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1520" y="3621024"/>
            <a:ext cx="6583680" cy="0"/>
          </a:xfrm>
          <a:prstGeom prst="line">
            <a:avLst/>
          </a:prstGeom>
          <a:noFill/>
          <a:ln w="5080">
            <a:solidFill>
              <a:srgbClr val="D6CA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6210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913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covers ~1k MAU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6210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€0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31520" y="4187952"/>
            <a:ext cx="6583680" cy="0"/>
          </a:xfrm>
          <a:prstGeom prst="line">
            <a:avLst/>
          </a:prstGeom>
          <a:noFill/>
          <a:ln w="5080">
            <a:solidFill>
              <a:srgbClr val="D6CA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187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480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~30k requests at Haiku price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4187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~€12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31520" y="4754880"/>
            <a:ext cx="6583680" cy="0"/>
          </a:xfrm>
          <a:prstGeom prst="line">
            <a:avLst/>
          </a:prstGeom>
          <a:noFill/>
          <a:ln w="5080">
            <a:solidFill>
              <a:srgbClr val="D6CAB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754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OpenLibrary / Open-Meteo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50474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fully free, no API key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4754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€0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31520" y="5321808"/>
            <a:ext cx="6583680" cy="0"/>
          </a:xfrm>
          <a:prstGeom prst="line">
            <a:avLst/>
          </a:prstGeom>
          <a:noFill/>
          <a:ln w="5080">
            <a:solidFill>
              <a:srgbClr val="D6CAB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321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(optional)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" y="56144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ditch github.io subpath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53218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MARGINALIA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000"/>
              </a:lnSpc>
              <a:buNone/>
            </a:pPr>
            <a:r>
              <a:rPr lang="en-US" sz="7800" b="1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here</a:t>
            </a:r>
            <a:endParaRPr lang="en-US" sz="7800" dirty="0"/>
          </a:p>
          <a:p>
            <a:pPr indent="0" marL="0">
              <a:lnSpc>
                <a:spcPts val="8000"/>
              </a:lnSpc>
              <a:buNone/>
            </a:pPr>
            <a:r>
              <a:rPr lang="en-US" sz="7800" b="1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week.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Developer enrollment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41330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every other P0 item. Start it NOW because verification takes 2-5 days.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82880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Apple + Google + Twilio in Supabase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50017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the 3 social auth pills already in the app. Apple is required by App Store rule 4.8.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4864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828800" y="5486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4-week sprint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58704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block 5h/week. Submit by week 4 → on App Store ~5 days later.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Marginalia · App Store launch deck · 2026-05-27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Marginalia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Store Launch Checklist</dc:title>
  <dc:subject>PptxGenJS Presentation</dc:subject>
  <dc:creator>Marginalia</dc:creator>
  <cp:lastModifiedBy>Marginalia</cp:lastModifiedBy>
  <cp:revision>1</cp:revision>
  <dcterms:created xsi:type="dcterms:W3CDTF">2026-05-27T17:34:17Z</dcterms:created>
  <dcterms:modified xsi:type="dcterms:W3CDTF">2026-05-27T17:34:17Z</dcterms:modified>
</cp:coreProperties>
</file>